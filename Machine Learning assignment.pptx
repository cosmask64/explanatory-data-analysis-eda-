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F870-D00E-6F33-63FA-3F87BBA4B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72CD1-35BA-7F8F-3B18-F9100448E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08847-F751-9C32-AE91-443C579C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BF85B-6A78-B217-ED48-CE37A24A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12E32-2FB0-DA59-33CA-08DDC4F5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2388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AA08-48B2-1B05-5326-3B5395494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09217-5482-C37A-5FA3-C1B14CA24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D22E1-2FB8-9035-9FA7-798E2E81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AA477-0280-7159-83C3-B40802497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6FCA7-BCD5-3A8E-9F68-980BA2BC7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0114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2FBB9-40A5-2080-098D-03A152A17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E7F51-04A6-413D-B0E4-20D402ED0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45CA8-6B91-C490-290E-AB18315C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E23F0-E73B-C85A-212F-D89CD802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AE161-1525-B8E4-32B3-75B35133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3941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A2D-ED41-457A-80D4-8D71EBA2F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08120-7442-F41F-C085-A93149F42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CF63E-55A7-C9A3-7B47-0B0BB383B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85B54-9A23-47CD-5754-64650914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5679B-629E-2437-F6D5-5E5894FF9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0DDB0-1EDB-7975-730A-6E2906DD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39382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3AFC2-A331-05E1-DDE8-8CABAA31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DE702-A572-0051-C0AD-332861B65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12855-5DED-BB56-FA52-F55525593E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84C980-4BBF-8D01-6694-4385E7C73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22834A-7A09-AF7B-2D27-197D26CEE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DF427-CF32-9032-1FCB-F3817ABD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DEAF7-8E33-03C8-BE11-1B3D57B9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3E71-4A25-46DC-114F-9643D9EF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69355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6C51-423B-C646-7C98-B4A7CD67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F5231-9563-0EA9-989F-3599D5AF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5D0E6E-A43D-CFEB-4591-4EE8D6817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F2251-1C23-151A-D613-4CBFE199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696815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8C21C-6F43-5A1E-6D09-CE20BF1B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B537A-72EB-0E07-9694-96E319434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9D3FC-6859-8B61-445E-936FFB2D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6631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DACE6-5CAD-CBF7-25FE-213A4B6DC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6EFCE-C188-B499-DDF9-8DFF4286F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A3A35-A13E-738D-6B68-63BCD8232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B114C-9AF0-C2A8-3D11-A095C9DB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38355-DED7-F6BF-76CD-16C876F65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18B4C-67AF-F9B7-F176-618CC9F13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163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BFE3-53D6-0FFE-2A1F-0516559B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749AC8-7EB5-FA80-BE3F-952805CD3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A3D9E-0CE7-762F-1095-057BD54CC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E726C-35B0-1470-9CD6-27EE7E9E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01EB69-488A-4BF9-9D8D-15978838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4D846-1CFA-777B-BABF-01F72C1C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68699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7848-BC9E-E4C6-D938-70647A11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65A4EA-94CD-853A-38A0-38F2109E5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680C1-329A-FACC-CEFB-959EBF2FF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0833B-F53F-C35A-3293-D8977805C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F97CB-1996-71F6-4130-E57805C2F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24382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40C459-FC3A-89E6-E989-6090E44ADD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C840BD-6179-4E12-964A-325ED0F97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93F9-2786-D9C5-8173-33B57D43F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FECE2-4985-4AFB-1244-B2640E389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C8BCF-3D08-AF69-F4B7-FA7C4ED1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1658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41532A-BE9B-4DDA-A908-A7E5084DC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5D65C-0826-98F8-9692-62B2D2D83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11B89-3A75-2DF6-A98F-EEB3F4155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87DF7-9B03-42E4-BABA-8A2B8F44E7F6}" type="datetimeFigureOut">
              <a:rPr lang="en-KE" smtClean="0"/>
              <a:t>22/09/2025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D2C1B-AFC5-BC47-F461-49D086223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8F94-6D4E-BB24-072E-A4B6DB2CA3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E0BF50-FA6E-4745-A40C-C252455F2FE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805877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9DFF-1041-C834-3736-AAA5F7FC41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KE" sz="32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br>
              <a:rPr lang="en-KE" sz="3200" b="0" i="0" u="none" strike="noStrike" baseline="0" dirty="0">
                <a:latin typeface="Arial" panose="020B0604020202020204" pitchFamily="34" charset="0"/>
              </a:rPr>
            </a:br>
            <a:r>
              <a:rPr lang="en-US" sz="32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en-US" sz="3200" b="1" i="0" u="none" strike="noStrike" baseline="0" dirty="0">
                <a:latin typeface="Arial" panose="020B0604020202020204" pitchFamily="34" charset="0"/>
              </a:rPr>
              <a:t>Logistic Regression on Heart Disease Dataset </a:t>
            </a:r>
            <a:endParaRPr lang="en-KE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4032B-169A-BBCC-7C63-45DD15A249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22/09/2025</a:t>
            </a:r>
            <a:endParaRPr lang="en-K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359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0448-2D8A-BD21-E68F-38B788426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Arial" panose="020B0604020202020204" pitchFamily="34" charset="0"/>
              </a:rPr>
              <a:t>Objective</a:t>
            </a:r>
            <a:br>
              <a:rPr lang="en-US" sz="4400" b="0" i="0" u="none" strike="noStrike" baseline="0" dirty="0">
                <a:latin typeface="Arial" panose="020B0604020202020204" pitchFamily="34" charset="0"/>
              </a:rPr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ACEE1-1B07-8BAF-C243-09156CB4B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en-KE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sz="1800" dirty="0">
                <a:latin typeface="Arial" panose="020B0604020202020204" pitchFamily="34" charset="0"/>
              </a:rPr>
              <a:t>T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o apply logistic regression to a binary classification problem using the </a:t>
            </a:r>
            <a:r>
              <a:rPr lang="en-US" sz="1800" b="1" i="0" u="none" strike="noStrike" baseline="0" dirty="0">
                <a:latin typeface="Arial" panose="020B0604020202020204" pitchFamily="34" charset="0"/>
              </a:rPr>
              <a:t>Heart Disease dataset</a:t>
            </a:r>
            <a:r>
              <a:rPr lang="en-US" sz="1800" b="0" i="0" u="none" strike="noStrike" baseline="0" dirty="0">
                <a:latin typeface="Arial" panose="020B0604020202020204" pitchFamily="34" charset="0"/>
              </a:rPr>
              <a:t>. The dataset contains several features related to a patient's health, and the task is to predict whether or not a patient has heart disease (binary classification).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33337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B1D4-E1F8-D5B7-A9CA-5B6BA25B6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50963"/>
          </a:xfrm>
        </p:spPr>
        <p:txBody>
          <a:bodyPr/>
          <a:lstStyle/>
          <a:p>
            <a:r>
              <a:rPr lang="en-US" dirty="0"/>
              <a:t>Overview of the data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E5DD6-CA38-DA05-FC80-B677CF5B4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Loading the data</a:t>
            </a:r>
            <a:r>
              <a:rPr lang="en-US" b="0" dirty="0">
                <a:effectLst/>
                <a:latin typeface="Consolas" panose="020B0609020204030204" pitchFamily="49" charset="0"/>
              </a:rPr>
              <a:t>: data =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pd.read_csv</a:t>
            </a:r>
            <a:r>
              <a:rPr lang="en-US" b="0" dirty="0"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r'C</a:t>
            </a:r>
            <a:r>
              <a:rPr lang="en-US" b="0" dirty="0">
                <a:effectLst/>
                <a:latin typeface="Consolas" panose="020B0609020204030204" pitchFamily="49" charset="0"/>
              </a:rPr>
              <a:t>:\Users\user\Downloads\heart_cleveland_upload.csv’)</a:t>
            </a:r>
          </a:p>
          <a:p>
            <a:r>
              <a:rPr lang="en-US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Converting data into </a:t>
            </a:r>
            <a:r>
              <a:rPr lang="en-US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dataframe</a:t>
            </a:r>
            <a:r>
              <a:rPr lang="en-US" b="0" dirty="0"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pd.DataFrame</a:t>
            </a:r>
            <a:r>
              <a:rPr lang="en-US" b="0" dirty="0">
                <a:effectLst/>
                <a:latin typeface="Consolas" panose="020B0609020204030204" pitchFamily="49" charset="0"/>
              </a:rPr>
              <a:t>(data)</a:t>
            </a:r>
          </a:p>
          <a:p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Checking the data types: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data.dtypes</a:t>
            </a:r>
            <a:r>
              <a:rPr lang="en-US" b="0" dirty="0">
                <a:effectLst/>
                <a:latin typeface="Consolas" panose="020B0609020204030204" pitchFamily="49" charset="0"/>
              </a:rPr>
              <a:t>-there were two data types-integer and Floats </a:t>
            </a:r>
          </a:p>
          <a:p>
            <a:r>
              <a:rPr lang="en-US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checking null </a:t>
            </a:r>
            <a:r>
              <a:rPr lang="en-US" b="0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:data.info</a:t>
            </a:r>
            <a:r>
              <a:rPr lang="en-US" b="0" dirty="0">
                <a:effectLst/>
                <a:latin typeface="Consolas" panose="020B0609020204030204" pitchFamily="49" charset="0"/>
              </a:rPr>
              <a:t>()-There were no missing values in the dataset</a:t>
            </a: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2400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3B08-4433-692B-C64B-E6150964B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5BDAD-2090-2BC3-AFBE-20AA5FCE1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Checking the duplicates: </a:t>
            </a:r>
            <a:r>
              <a:rPr lang="en-US" b="1" dirty="0" err="1">
                <a:effectLst/>
                <a:latin typeface="Consolas" panose="020B0609020204030204" pitchFamily="49" charset="0"/>
              </a:rPr>
              <a:t>data.duplicated</a:t>
            </a:r>
            <a:r>
              <a:rPr lang="en-US" b="1" dirty="0">
                <a:effectLst/>
                <a:latin typeface="Consolas" panose="020B0609020204030204" pitchFamily="49" charset="0"/>
              </a:rPr>
              <a:t>().sum()-there were no duplicates in the dataset.</a:t>
            </a:r>
          </a:p>
          <a:p>
            <a:r>
              <a:rPr lang="en-US" b="1" dirty="0" err="1">
                <a:effectLst/>
                <a:latin typeface="Consolas" panose="020B0609020204030204" pitchFamily="49" charset="0"/>
              </a:rPr>
              <a:t>data.describe</a:t>
            </a:r>
            <a:r>
              <a:rPr lang="en-US" b="1" dirty="0">
                <a:effectLst/>
                <a:latin typeface="Consolas" panose="020B0609020204030204" pitchFamily="49" charset="0"/>
              </a:rPr>
              <a:t>()-there were outliers in the dataset (</a:t>
            </a:r>
            <a:r>
              <a:rPr lang="en-US" b="1" dirty="0" err="1">
                <a:effectLst/>
                <a:latin typeface="Consolas" panose="020B0609020204030204" pitchFamily="49" charset="0"/>
              </a:rPr>
              <a:t>chol,oldpeak</a:t>
            </a:r>
            <a:r>
              <a:rPr lang="en-US" b="1" dirty="0">
                <a:effectLst/>
                <a:latin typeface="Consolas" panose="020B0609020204030204" pitchFamily="49" charset="0"/>
              </a:rPr>
              <a:t>) but the condition had no outliers </a:t>
            </a:r>
          </a:p>
          <a:p>
            <a:r>
              <a:rPr lang="en-US" b="1" dirty="0">
                <a:effectLst/>
                <a:latin typeface="Consolas" panose="020B0609020204030204" pitchFamily="49" charset="0"/>
              </a:rPr>
              <a:t> 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179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689CD-CAA7-5576-F7C7-F848895EC7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Exploratory Data analysis (EDA)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F0C808-BCA8-C78B-CB16-660CD32E7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6452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0C713-B27C-D6E6-DE6E-881680754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the Correlation #Heat map</a:t>
            </a:r>
            <a:endParaRPr lang="en-KE" dirty="0"/>
          </a:p>
        </p:txBody>
      </p:sp>
      <p:pic>
        <p:nvPicPr>
          <p:cNvPr id="5" name="Content Placeholder 4" descr="A screenshot of a graph&#10;&#10;AI-generated content may be incorrect.">
            <a:extLst>
              <a:ext uri="{FF2B5EF4-FFF2-40B4-BE49-F238E27FC236}">
                <a16:creationId xmlns:a16="http://schemas.microsoft.com/office/drawing/2014/main" id="{F7F3A274-B3A7-8422-0F92-CA9227663B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" y="1795144"/>
            <a:ext cx="8747760" cy="4991735"/>
          </a:xfrm>
        </p:spPr>
      </p:pic>
    </p:spTree>
    <p:extLst>
      <p:ext uri="{BB962C8B-B14F-4D97-AF65-F5344CB8AC3E}">
        <p14:creationId xmlns:p14="http://schemas.microsoft.com/office/powerpoint/2010/main" val="1967632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2B65-FA1F-3571-2FCD-84E4D7B9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from the Heatmap 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F9BF-09A3-2A3D-9F26-DFB23EA1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Positive Correlations:</a:t>
            </a:r>
          </a:p>
          <a:p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slope (0.58): ST depression and slope measurements are closely related - both capture exercise-induced cardiac stress.</a:t>
            </a:r>
          </a:p>
          <a:p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condition (0.52): Thalassemia status strongly correlates with final cardiac condition diagnosis</a:t>
            </a:r>
          </a:p>
          <a:p>
            <a:pPr marL="0" indent="0">
              <a:buNone/>
            </a:pPr>
            <a: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Negative Correlations:</a:t>
            </a:r>
          </a:p>
          <a:p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condition (-0.42): Higher maximum heart rate strongly associates with better cardiac outcomes</a:t>
            </a:r>
          </a:p>
          <a:p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(-0.38): Patients achieving higher heart rates less likely to experience </a:t>
            </a:r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endParaRPr lang="en-US" sz="29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vs  </a:t>
            </a:r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(-0.35): Higher heart rate capacity inversely related to ST depression severity</a:t>
            </a:r>
          </a:p>
          <a:p>
            <a:pPr marL="0" indent="0">
              <a:buNone/>
            </a:pPr>
            <a:r>
              <a:rPr lang="en-US" sz="29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Diagnostic Variable Clustering</a:t>
            </a:r>
          </a:p>
          <a:p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(</a:t>
            </a:r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slope, ca, </a:t>
            </a:r>
            <a:r>
              <a:rPr lang="en-US" sz="29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US" sz="29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condition ) form a interconnected cluster with correlations ranging (0.25-0.58), indicating they measure related aspects of cardiac pathology.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387892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53BB2-8773-BDFD-7A66-16BD00923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No. Patients vs Heart Disease Condition </a:t>
            </a:r>
            <a:endParaRPr lang="en-K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CE1B7-4C54-574B-803B-42400CCAC9A2}"/>
              </a:ext>
            </a:extLst>
          </p:cNvPr>
          <p:cNvSpPr txBox="1"/>
          <p:nvPr/>
        </p:nvSpPr>
        <p:spPr>
          <a:xfrm>
            <a:off x="7284720" y="2184400"/>
            <a:ext cx="4069079" cy="1692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Findings </a:t>
            </a:r>
          </a:p>
          <a:p>
            <a:endParaRPr lang="en-US" dirty="0"/>
          </a:p>
          <a:p>
            <a:r>
              <a:rPr lang="en-US" dirty="0"/>
              <a:t>From the data set there were total of 160 patients without the heart disease and 137 patients' with heart disease </a:t>
            </a:r>
            <a:endParaRPr lang="en-K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71DD3D1-5F5F-FE87-3E61-9F18CC1BD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K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D5BF2A-DFC1-78C1-7CB8-4AE37E270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43088"/>
            <a:ext cx="54387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86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6357-2B7F-4096-5338-DDA7DFB1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K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C25D0E-80CB-A1C9-A1F4-FE1F10441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795" y="1690688"/>
            <a:ext cx="5353050" cy="5035232"/>
          </a:xfrm>
        </p:spPr>
      </p:pic>
    </p:spTree>
    <p:extLst>
      <p:ext uri="{BB962C8B-B14F-4D97-AF65-F5344CB8AC3E}">
        <p14:creationId xmlns:p14="http://schemas.microsoft.com/office/powerpoint/2010/main" val="130282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Consolas</vt:lpstr>
      <vt:lpstr>Times New Roman</vt:lpstr>
      <vt:lpstr>Office Theme</vt:lpstr>
      <vt:lpstr>   Logistic Regression on Heart Disease Dataset </vt:lpstr>
      <vt:lpstr>Objective </vt:lpstr>
      <vt:lpstr>Overview of the data</vt:lpstr>
      <vt:lpstr>PowerPoint Presentation</vt:lpstr>
      <vt:lpstr>Exploratory Data analysis (EDA)</vt:lpstr>
      <vt:lpstr>Checking the Correlation #Heat map</vt:lpstr>
      <vt:lpstr>Findings from the Heatmap </vt:lpstr>
      <vt:lpstr>No. Patients vs Heart Disease Condition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2025-09-22T16:50:28Z</dcterms:created>
  <dcterms:modified xsi:type="dcterms:W3CDTF">2025-09-22T16:50:58Z</dcterms:modified>
</cp:coreProperties>
</file>